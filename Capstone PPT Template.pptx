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3"/>
  </p:notesMasterIdLst>
  <p:sldIdLst>
    <p:sldId id="256" r:id="rId2"/>
    <p:sldId id="674" r:id="rId3"/>
    <p:sldId id="715" r:id="rId4"/>
    <p:sldId id="713" r:id="rId5"/>
    <p:sldId id="716" r:id="rId6"/>
    <p:sldId id="712" r:id="rId7"/>
    <p:sldId id="717" r:id="rId8"/>
    <p:sldId id="718" r:id="rId9"/>
    <p:sldId id="719" r:id="rId10"/>
    <p:sldId id="711" r:id="rId11"/>
    <p:sldId id="30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1B58"/>
    <a:srgbClr val="333F50"/>
    <a:srgbClr val="8497B0"/>
    <a:srgbClr val="8FAADC"/>
    <a:srgbClr val="2F5597"/>
    <a:srgbClr val="626CC7"/>
    <a:srgbClr val="323B8D"/>
    <a:srgbClr val="21275D"/>
    <a:srgbClr val="161A3E"/>
    <a:srgbClr val="2038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71" autoAdjust="0"/>
    <p:restoredTop sz="93447" autoAdjust="0"/>
  </p:normalViewPr>
  <p:slideViewPr>
    <p:cSldViewPr snapToGrid="0">
      <p:cViewPr varScale="1">
        <p:scale>
          <a:sx n="59" d="100"/>
          <a:sy n="59" d="100"/>
        </p:scale>
        <p:origin x="872" y="52"/>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badi" panose="020F0502020204030204" pitchFamily="34" charset="0"/>
              </a:defRPr>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badi" panose="020F0502020204030204" pitchFamily="34" charset="0"/>
              </a:defRPr>
            </a:lvl1pPr>
          </a:lstStyle>
          <a:p>
            <a:fld id="{C20077D8-B575-4753-B8FD-F5736649C91E}" type="datetimeFigureOut">
              <a:rPr lang="en-IN" smtClean="0"/>
              <a:pPr/>
              <a:t>19-12-2025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badi" panose="020F0502020204030204" pitchFamily="34" charset="0"/>
              </a:defRPr>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badi" panose="020F0502020204030204" pitchFamily="34" charset="0"/>
              </a:defRPr>
            </a:lvl1pPr>
          </a:lstStyle>
          <a:p>
            <a:fld id="{47FFB008-8E38-46F5-BCB9-8CFEF233CF3A}" type="slidenum">
              <a:rPr lang="en-IN" smtClean="0"/>
              <a:pPr/>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badi" panose="020F0502020204030204" pitchFamily="34" charset="0"/>
        <a:ea typeface="+mn-ea"/>
        <a:cs typeface="+mn-cs"/>
      </a:defRPr>
    </a:lvl1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latin typeface="Abadi" panose="020F0502020204030204" pitchFamily="34" charset="0"/>
            </a:endParaRPr>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latin typeface="Abadi" panose="020F0502020204030204" pitchFamily="34" charset="0"/>
            </a:endParaRPr>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latin typeface="Abadi" panose="020F0502020204030204" pitchFamily="34" charset="0"/>
            </a:endParaRPr>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latin typeface="Abadi" panose="020F0502020204030204" pitchFamily="34" charset="0"/>
            </a:endParaRP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Abad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Abad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latin typeface="Abadi" panose="020F0502020204030204" pitchFamily="34" charset="0"/>
            </a:endParaRPr>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Abad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latin typeface="Abadi" panose="020F0502020204030204" pitchFamily="34" charset="0"/>
            </a:endParaRPr>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latin typeface="Abadi" panose="020F0502020204030204" pitchFamily="34" charset="0"/>
              </a:rPr>
              <a:t>CONFIDENTIAL</a:t>
            </a:r>
            <a:r>
              <a:rPr lang="en-US" sz="1100" dirty="0">
                <a:solidFill>
                  <a:schemeClr val="bg2">
                    <a:lumMod val="75000"/>
                  </a:schemeClr>
                </a:solidFill>
                <a:latin typeface="Abadi" panose="020F0502020204030204" pitchFamily="34" charset="0"/>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Abad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Abad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Abad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Abad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Abad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Abad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0" y="3023239"/>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400" b="1" dirty="0">
              <a:solidFill>
                <a:schemeClr val="bg1"/>
              </a:solidFill>
              <a:latin typeface="Abadi" panose="020F0502020204030204" pitchFamily="34" charset="0"/>
            </a:endParaRPr>
          </a:p>
        </p:txBody>
      </p:sp>
      <p:sp>
        <p:nvSpPr>
          <p:cNvPr id="3" name="Rectangle 1">
            <a:extLst>
              <a:ext uri="{FF2B5EF4-FFF2-40B4-BE49-F238E27FC236}">
                <a16:creationId xmlns:a16="http://schemas.microsoft.com/office/drawing/2014/main" id="{3E976156-00D6-258E-8368-300D257F0667}"/>
              </a:ext>
            </a:extLst>
          </p:cNvPr>
          <p:cNvSpPr>
            <a:spLocks noChangeArrowheads="1"/>
          </p:cNvSpPr>
          <p:nvPr/>
        </p:nvSpPr>
        <p:spPr bwMode="auto">
          <a:xfrm>
            <a:off x="1034921" y="3023239"/>
            <a:ext cx="10426957"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chemeClr val="bg1"/>
                </a:solidFill>
                <a:effectLst/>
                <a:latin typeface="Arial" panose="020B0604020202020204" pitchFamily="34" charset="0"/>
              </a:rPr>
              <a:t>Real-Time E-Commerce </a:t>
            </a:r>
            <a:r>
              <a:rPr kumimoji="0" lang="en-US" altLang="en-US" sz="3600" b="1" i="0" u="none" strike="noStrike" cap="none" normalizeH="0" baseline="0" dirty="0" err="1">
                <a:ln>
                  <a:noFill/>
                </a:ln>
                <a:solidFill>
                  <a:schemeClr val="bg1"/>
                </a:solidFill>
                <a:effectLst/>
                <a:latin typeface="Arial" panose="020B0604020202020204" pitchFamily="34" charset="0"/>
              </a:rPr>
              <a:t>Voicebot</a:t>
            </a:r>
            <a:r>
              <a:rPr kumimoji="0" lang="en-US" altLang="en-US" sz="3600" b="1" i="0" u="none" strike="noStrike" cap="none" normalizeH="0" baseline="0" dirty="0">
                <a:ln>
                  <a:noFill/>
                </a:ln>
                <a:solidFill>
                  <a:schemeClr val="bg1"/>
                </a:solidFill>
                <a:effectLst/>
                <a:latin typeface="Arial" panose="020B0604020202020204" pitchFamily="34" charset="0"/>
              </a:rPr>
              <a:t> using </a:t>
            </a:r>
            <a:r>
              <a:rPr kumimoji="0" lang="en-US" altLang="en-US" sz="3600" b="1" i="0" u="none" strike="noStrike" cap="none" normalizeH="0" baseline="0" dirty="0" err="1">
                <a:ln>
                  <a:noFill/>
                </a:ln>
                <a:solidFill>
                  <a:schemeClr val="bg1"/>
                </a:solidFill>
                <a:effectLst/>
                <a:latin typeface="Arial" panose="020B0604020202020204" pitchFamily="34" charset="0"/>
              </a:rPr>
              <a:t>LiveKit</a:t>
            </a:r>
            <a:endParaRPr kumimoji="0" lang="en-US" altLang="en-US" sz="3600" b="1"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a:extLst>
              <a:ext uri="{FF2B5EF4-FFF2-40B4-BE49-F238E27FC236}">
                <a16:creationId xmlns:a16="http://schemas.microsoft.com/office/drawing/2014/main" id="{CAA7B815-ED52-D34D-F7ED-B465093A0D43}"/>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anose="020B0604020202020204" pitchFamily="34" charset="0"/>
              </a:rPr>
              <a:t>Real-Time E-Commerce Voicebot using LiveKit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FC080453-1565-A641-FCFA-8AFCBB1A7BAB}"/>
              </a:ext>
            </a:extLst>
          </p:cNvPr>
          <p:cNvSpPr txBox="1"/>
          <p:nvPr/>
        </p:nvSpPr>
        <p:spPr>
          <a:xfrm>
            <a:off x="370114" y="6204857"/>
            <a:ext cx="5649686" cy="400110"/>
          </a:xfrm>
          <a:prstGeom prst="rect">
            <a:avLst/>
          </a:prstGeom>
          <a:noFill/>
        </p:spPr>
        <p:txBody>
          <a:bodyPr wrap="square" rtlCol="0">
            <a:spAutoFit/>
          </a:bodyPr>
          <a:lstStyle/>
          <a:p>
            <a:r>
              <a:rPr lang="en-IN" sz="2000" dirty="0">
                <a:solidFill>
                  <a:schemeClr val="bg1"/>
                </a:solidFill>
                <a:latin typeface="Abadi" panose="020F0502020204030204" pitchFamily="34" charset="0"/>
              </a:rPr>
              <a:t>Talha | GenAI / RAG Engineer | Capstone Project</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US" dirty="0"/>
              <a:t>Why </a:t>
            </a:r>
            <a:r>
              <a:rPr lang="en-US" dirty="0" err="1"/>
              <a:t>Voicebots</a:t>
            </a:r>
            <a:r>
              <a:rPr lang="en-US" dirty="0"/>
              <a:t> in E-Commerce Are Hard</a:t>
            </a:r>
            <a:endParaRPr lang="en-IN" dirty="0"/>
          </a:p>
        </p:txBody>
      </p:sp>
      <p:sp>
        <p:nvSpPr>
          <p:cNvPr id="4" name="Rectangle 1">
            <a:extLst>
              <a:ext uri="{FF2B5EF4-FFF2-40B4-BE49-F238E27FC236}">
                <a16:creationId xmlns:a16="http://schemas.microsoft.com/office/drawing/2014/main" id="{2F8BCE21-3927-BF6E-6FD3-CDF8455523DF}"/>
              </a:ext>
            </a:extLst>
          </p:cNvPr>
          <p:cNvSpPr>
            <a:spLocks noGrp="1" noChangeArrowheads="1"/>
          </p:cNvSpPr>
          <p:nvPr>
            <p:ph idx="1"/>
          </p:nvPr>
        </p:nvSpPr>
        <p:spPr bwMode="auto">
          <a:xfrm>
            <a:off x="678884" y="1452750"/>
            <a:ext cx="8443345" cy="3890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eaLnBrk="0" fontAlgn="base" hangingPunct="0">
              <a:lnSpc>
                <a:spcPct val="15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Voice is the fastest and most natural user interface</a:t>
            </a:r>
          </a:p>
          <a:p>
            <a:pPr marL="0" indent="0" algn="just" eaLnBrk="0" fontAlgn="base" hangingPunct="0">
              <a:lnSpc>
                <a:spcPct val="15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E-commerce support demands </a:t>
            </a:r>
            <a:r>
              <a:rPr kumimoji="0" lang="en-US" altLang="en-US" b="1" i="0" u="none" strike="noStrike" cap="none" normalizeH="0" baseline="0" dirty="0">
                <a:ln>
                  <a:noFill/>
                </a:ln>
                <a:solidFill>
                  <a:schemeClr val="tx1"/>
                </a:solidFill>
                <a:effectLst/>
                <a:latin typeface="Arial" panose="020B0604020202020204" pitchFamily="34" charset="0"/>
              </a:rPr>
              <a:t>low latency and correctness</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indent="0" algn="just" eaLnBrk="0" fontAlgn="base" hangingPunct="0">
              <a:lnSpc>
                <a:spcPct val="15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Traditional chatbots fail when converted to voice</a:t>
            </a:r>
          </a:p>
          <a:p>
            <a:pPr marL="0" indent="0" algn="just" eaLnBrk="0" fontAlgn="base" hangingPunct="0">
              <a:lnSpc>
                <a:spcPct val="15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Errors in voice systems </a:t>
            </a:r>
            <a:r>
              <a:rPr kumimoji="0" lang="en-US" altLang="en-US" b="1" i="0" u="none" strike="noStrike" cap="none" normalizeH="0" baseline="0" dirty="0">
                <a:ln>
                  <a:noFill/>
                </a:ln>
                <a:solidFill>
                  <a:schemeClr val="tx1"/>
                </a:solidFill>
                <a:effectLst/>
                <a:latin typeface="Arial" panose="020B0604020202020204" pitchFamily="34" charset="0"/>
              </a:rPr>
              <a:t>damage user trust immediately</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72459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7AC24-7C2B-350A-82F7-CBC2AF3369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467858-EFE6-6C97-BBD4-E379D77EA31B}"/>
              </a:ext>
            </a:extLst>
          </p:cNvPr>
          <p:cNvSpPr>
            <a:spLocks noGrp="1"/>
          </p:cNvSpPr>
          <p:nvPr>
            <p:ph type="title"/>
          </p:nvPr>
        </p:nvSpPr>
        <p:spPr/>
        <p:txBody>
          <a:bodyPr/>
          <a:lstStyle/>
          <a:p>
            <a:r>
              <a:rPr lang="en-US" dirty="0"/>
              <a:t>Challenges in Real-Time Voice AI Systems</a:t>
            </a:r>
            <a:endParaRPr lang="en-IN" dirty="0"/>
          </a:p>
        </p:txBody>
      </p:sp>
      <p:sp>
        <p:nvSpPr>
          <p:cNvPr id="5" name="Rectangle 2">
            <a:extLst>
              <a:ext uri="{FF2B5EF4-FFF2-40B4-BE49-F238E27FC236}">
                <a16:creationId xmlns:a16="http://schemas.microsoft.com/office/drawing/2014/main" id="{6B991F97-9BE9-1E10-0F10-15C54120411B}"/>
              </a:ext>
            </a:extLst>
          </p:cNvPr>
          <p:cNvSpPr>
            <a:spLocks noGrp="1" noChangeArrowheads="1"/>
          </p:cNvSpPr>
          <p:nvPr>
            <p:ph idx="1"/>
          </p:nvPr>
        </p:nvSpPr>
        <p:spPr bwMode="auto">
          <a:xfrm>
            <a:off x="678884" y="1651771"/>
            <a:ext cx="9923802" cy="3244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Continuous audio streams (not request–response)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Partial speech &amp; interruptions (barge-in)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Speech ambiguity (“ORT one zero </a:t>
            </a:r>
            <a:r>
              <a:rPr kumimoji="0" lang="en-US" altLang="en-US" b="0" i="0" u="none" strike="noStrike" cap="none" normalizeH="0" baseline="0" dirty="0" err="1">
                <a:ln>
                  <a:noFill/>
                </a:ln>
                <a:solidFill>
                  <a:schemeClr val="tx1"/>
                </a:solidFill>
                <a:effectLst/>
                <a:latin typeface="Arial" panose="020B0604020202020204" pitchFamily="34" charset="0"/>
              </a:rPr>
              <a:t>zero</a:t>
            </a:r>
            <a:r>
              <a:rPr kumimoji="0" lang="en-US" altLang="en-US" b="0" i="0" u="none" strike="noStrike" cap="none" normalizeH="0" baseline="0" dirty="0">
                <a:ln>
                  <a:noFill/>
                </a:ln>
                <a:solidFill>
                  <a:schemeClr val="tx1"/>
                </a:solidFill>
                <a:effectLst/>
                <a:latin typeface="Arial" panose="020B0604020202020204" pitchFamily="34" charset="0"/>
              </a:rPr>
              <a:t> one”)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Latency compounding across STT, LLM, and TTS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Preventing hallucinations for factual queries</a:t>
            </a:r>
          </a:p>
        </p:txBody>
      </p:sp>
    </p:spTree>
    <p:extLst>
      <p:ext uri="{BB962C8B-B14F-4D97-AF65-F5344CB8AC3E}">
        <p14:creationId xmlns:p14="http://schemas.microsoft.com/office/powerpoint/2010/main" val="3413242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a:xfrm>
            <a:off x="384967" y="591681"/>
            <a:ext cx="5711033" cy="612775"/>
          </a:xfrm>
        </p:spPr>
        <p:txBody>
          <a:bodyPr>
            <a:normAutofit fontScale="90000"/>
          </a:bodyPr>
          <a:lstStyle/>
          <a:p>
            <a:r>
              <a:rPr lang="en-IN" dirty="0"/>
              <a:t>End-to-End </a:t>
            </a:r>
            <a:r>
              <a:rPr lang="en-IN" dirty="0" err="1"/>
              <a:t>Voicebot</a:t>
            </a:r>
            <a:r>
              <a:rPr lang="en-IN" dirty="0"/>
              <a:t> Architecture</a:t>
            </a:r>
          </a:p>
        </p:txBody>
      </p:sp>
      <p:pic>
        <p:nvPicPr>
          <p:cNvPr id="3" name="Content Placeholder 2">
            <a:extLst>
              <a:ext uri="{FF2B5EF4-FFF2-40B4-BE49-F238E27FC236}">
                <a16:creationId xmlns:a16="http://schemas.microsoft.com/office/drawing/2014/main" id="{1F6B58D6-0BA8-825E-00D0-DDC2B6EFC85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38898" y="1204456"/>
            <a:ext cx="3603170" cy="4935087"/>
          </a:xfrm>
        </p:spPr>
      </p:pic>
      <p:sp>
        <p:nvSpPr>
          <p:cNvPr id="6" name="TextBox 5">
            <a:extLst>
              <a:ext uri="{FF2B5EF4-FFF2-40B4-BE49-F238E27FC236}">
                <a16:creationId xmlns:a16="http://schemas.microsoft.com/office/drawing/2014/main" id="{4474202E-067C-2D3A-8CD6-23554B263E73}"/>
              </a:ext>
            </a:extLst>
          </p:cNvPr>
          <p:cNvSpPr txBox="1"/>
          <p:nvPr/>
        </p:nvSpPr>
        <p:spPr>
          <a:xfrm>
            <a:off x="6672943" y="2296885"/>
            <a:ext cx="5225143" cy="2246769"/>
          </a:xfrm>
          <a:prstGeom prst="rect">
            <a:avLst/>
          </a:prstGeom>
          <a:noFill/>
        </p:spPr>
        <p:txBody>
          <a:bodyPr wrap="square" rtlCol="0">
            <a:spAutoFit/>
          </a:bodyPr>
          <a:lstStyle/>
          <a:p>
            <a:r>
              <a:rPr lang="en-US" sz="2800" dirty="0">
                <a:solidFill>
                  <a:schemeClr val="bg1">
                    <a:lumMod val="95000"/>
                  </a:schemeClr>
                </a:solidFill>
                <a:latin typeface="Abadi" panose="020B0604020104020204" pitchFamily="34" charset="0"/>
                <a:ea typeface="Calibri Light" panose="020F0302020204030204" pitchFamily="34" charset="0"/>
                <a:cs typeface="Calibri Light" panose="020F0302020204030204" pitchFamily="34" charset="0"/>
              </a:rPr>
              <a:t>“This pipeline ensures low latency, factual correctness, and a natural conversational experience in a real-time voice system.”</a:t>
            </a:r>
            <a:endParaRPr lang="en-IN" sz="2800" dirty="0">
              <a:solidFill>
                <a:schemeClr val="bg1">
                  <a:lumMod val="95000"/>
                </a:schemeClr>
              </a:solidFill>
              <a:latin typeface="Abadi" panose="020B060402010402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344420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40D9D-2B6C-891F-3F73-888D6B1FD8F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50D8717-9A2D-D6DF-5E9A-7BF250965EC6}"/>
              </a:ext>
            </a:extLst>
          </p:cNvPr>
          <p:cNvSpPr>
            <a:spLocks noGrp="1"/>
          </p:cNvSpPr>
          <p:nvPr>
            <p:ph type="title"/>
          </p:nvPr>
        </p:nvSpPr>
        <p:spPr>
          <a:xfrm>
            <a:off x="384967" y="591681"/>
            <a:ext cx="5711033" cy="612775"/>
          </a:xfrm>
        </p:spPr>
        <p:txBody>
          <a:bodyPr>
            <a:normAutofit fontScale="90000"/>
          </a:bodyPr>
          <a:lstStyle/>
          <a:p>
            <a:r>
              <a:rPr lang="en-IN" dirty="0"/>
              <a:t>Real-Time Audio Handling Pipeline</a:t>
            </a:r>
          </a:p>
        </p:txBody>
      </p:sp>
      <p:pic>
        <p:nvPicPr>
          <p:cNvPr id="5" name="Picture 4">
            <a:extLst>
              <a:ext uri="{FF2B5EF4-FFF2-40B4-BE49-F238E27FC236}">
                <a16:creationId xmlns:a16="http://schemas.microsoft.com/office/drawing/2014/main" id="{C009D165-3147-ADD9-BF43-724717ADE22B}"/>
              </a:ext>
            </a:extLst>
          </p:cNvPr>
          <p:cNvPicPr>
            <a:picLocks noChangeAspect="1"/>
          </p:cNvPicPr>
          <p:nvPr/>
        </p:nvPicPr>
        <p:blipFill>
          <a:blip r:embed="rId2"/>
          <a:stretch>
            <a:fillRect/>
          </a:stretch>
        </p:blipFill>
        <p:spPr>
          <a:xfrm>
            <a:off x="1359266" y="1621970"/>
            <a:ext cx="3762433" cy="3944487"/>
          </a:xfrm>
          <a:prstGeom prst="rect">
            <a:avLst/>
          </a:prstGeom>
        </p:spPr>
      </p:pic>
      <p:sp>
        <p:nvSpPr>
          <p:cNvPr id="9" name="Rectangle 1">
            <a:extLst>
              <a:ext uri="{FF2B5EF4-FFF2-40B4-BE49-F238E27FC236}">
                <a16:creationId xmlns:a16="http://schemas.microsoft.com/office/drawing/2014/main" id="{71AC17F9-7708-80B0-DD2C-7B846E398176}"/>
              </a:ext>
            </a:extLst>
          </p:cNvPr>
          <p:cNvSpPr>
            <a:spLocks noChangeArrowheads="1"/>
          </p:cNvSpPr>
          <p:nvPr/>
        </p:nvSpPr>
        <p:spPr bwMode="auto">
          <a:xfrm>
            <a:off x="6868886" y="2036933"/>
            <a:ext cx="5019323" cy="2239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buFontTx/>
              <a:buChar char="•"/>
            </a:pPr>
            <a:r>
              <a:rPr lang="en-US" altLang="en-US" sz="2400" dirty="0">
                <a:solidFill>
                  <a:schemeClr val="bg1">
                    <a:lumMod val="95000"/>
                  </a:schemeClr>
                </a:solidFill>
                <a:latin typeface="Arial" panose="020B0604020202020204" pitchFamily="34" charset="0"/>
              </a:rPr>
              <a:t>DSP intentionally disabled</a:t>
            </a:r>
          </a:p>
          <a:p>
            <a:pPr lvl="0" eaLnBrk="0" fontAlgn="base" hangingPunct="0">
              <a:lnSpc>
                <a:spcPct val="150000"/>
              </a:lnSpc>
              <a:spcBef>
                <a:spcPct val="0"/>
              </a:spcBef>
              <a:spcAft>
                <a:spcPct val="0"/>
              </a:spcAft>
              <a:buFontTx/>
              <a:buChar char="•"/>
            </a:pPr>
            <a:r>
              <a:rPr lang="en-US" altLang="en-US" sz="2400" dirty="0">
                <a:solidFill>
                  <a:schemeClr val="bg1">
                    <a:lumMod val="95000"/>
                  </a:schemeClr>
                </a:solidFill>
                <a:latin typeface="Arial" panose="020B0604020202020204" pitchFamily="34" charset="0"/>
              </a:rPr>
              <a:t>Streaming, not batch audio</a:t>
            </a:r>
          </a:p>
          <a:p>
            <a:pPr lvl="0" eaLnBrk="0" fontAlgn="base" hangingPunct="0">
              <a:lnSpc>
                <a:spcPct val="150000"/>
              </a:lnSpc>
              <a:spcBef>
                <a:spcPct val="0"/>
              </a:spcBef>
              <a:spcAft>
                <a:spcPct val="0"/>
              </a:spcAft>
              <a:buFontTx/>
              <a:buChar char="•"/>
            </a:pPr>
            <a:r>
              <a:rPr lang="en-US" altLang="en-US" sz="2400" dirty="0">
                <a:solidFill>
                  <a:schemeClr val="bg1">
                    <a:lumMod val="95000"/>
                  </a:schemeClr>
                </a:solidFill>
                <a:latin typeface="Arial" panose="020B0604020202020204" pitchFamily="34" charset="0"/>
              </a:rPr>
              <a:t>Designed for low-latency response</a:t>
            </a:r>
          </a:p>
          <a:p>
            <a:pPr marL="0" marR="0" lvl="0" indent="0" algn="l" defTabSz="914400" rtl="0" eaLnBrk="0" fontAlgn="base" latinLnBrk="0" hangingPunct="0">
              <a:lnSpc>
                <a:spcPct val="150000"/>
              </a:lnSpc>
              <a:spcBef>
                <a:spcPct val="0"/>
              </a:spcBef>
              <a:spcAft>
                <a:spcPct val="0"/>
              </a:spcAft>
              <a:buClrTx/>
              <a:buSzTx/>
              <a:tabLst/>
            </a:pPr>
            <a:endParaRPr kumimoji="0" lang="en-US" altLang="en-US" sz="2400" b="0" i="0" u="none" strike="noStrike" cap="none" normalizeH="0" baseline="0" dirty="0">
              <a:ln>
                <a:noFill/>
              </a:ln>
              <a:solidFill>
                <a:schemeClr val="bg1">
                  <a:lumMod val="95000"/>
                </a:schemeClr>
              </a:solidFill>
              <a:effectLst/>
              <a:latin typeface="Arial" panose="020B0604020202020204" pitchFamily="34" charset="0"/>
            </a:endParaRPr>
          </a:p>
        </p:txBody>
      </p:sp>
      <p:sp>
        <p:nvSpPr>
          <p:cNvPr id="14" name="TextBox 13">
            <a:extLst>
              <a:ext uri="{FF2B5EF4-FFF2-40B4-BE49-F238E27FC236}">
                <a16:creationId xmlns:a16="http://schemas.microsoft.com/office/drawing/2014/main" id="{DFDD2607-8F59-F168-E699-A1BA4FC7F13F}"/>
              </a:ext>
            </a:extLst>
          </p:cNvPr>
          <p:cNvSpPr txBox="1"/>
          <p:nvPr/>
        </p:nvSpPr>
        <p:spPr>
          <a:xfrm>
            <a:off x="6324600" y="4082143"/>
            <a:ext cx="5704114" cy="707886"/>
          </a:xfrm>
          <a:prstGeom prst="rect">
            <a:avLst/>
          </a:prstGeom>
          <a:noFill/>
        </p:spPr>
        <p:txBody>
          <a:bodyPr wrap="square" rtlCol="0">
            <a:spAutoFit/>
          </a:bodyPr>
          <a:lstStyle/>
          <a:p>
            <a:pPr algn="ctr"/>
            <a:r>
              <a:rPr lang="en-US" sz="2000" dirty="0">
                <a:solidFill>
                  <a:schemeClr val="bg1">
                    <a:lumMod val="95000"/>
                  </a:schemeClr>
                </a:solidFill>
                <a:latin typeface="Abadi" panose="020B0604020104020204" pitchFamily="34" charset="0"/>
              </a:rPr>
              <a:t>“We never wait for the user to ‘finish talking’ — the system reacts continuously.”</a:t>
            </a:r>
            <a:endParaRPr lang="en-IN" sz="2000" dirty="0">
              <a:solidFill>
                <a:schemeClr val="bg1">
                  <a:lumMod val="95000"/>
                </a:schemeClr>
              </a:solidFill>
              <a:latin typeface="Abadi" panose="020B0604020104020204" pitchFamily="34" charset="0"/>
            </a:endParaRPr>
          </a:p>
        </p:txBody>
      </p:sp>
    </p:spTree>
    <p:extLst>
      <p:ext uri="{BB962C8B-B14F-4D97-AF65-F5344CB8AC3E}">
        <p14:creationId xmlns:p14="http://schemas.microsoft.com/office/powerpoint/2010/main" val="3798503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B6581A0F-B254-5CEF-50F2-6B8129053F79}"/>
              </a:ext>
            </a:extLst>
          </p:cNvPr>
          <p:cNvSpPr/>
          <p:nvPr/>
        </p:nvSpPr>
        <p:spPr>
          <a:xfrm>
            <a:off x="642258" y="2492829"/>
            <a:ext cx="2492829" cy="2035628"/>
          </a:xfrm>
          <a:prstGeom prst="roundRect">
            <a:avLst/>
          </a:prstGeom>
          <a:solidFill>
            <a:srgbClr val="1D1B58"/>
          </a:solidFill>
          <a:ln>
            <a:solidFill>
              <a:srgbClr val="1D1B58"/>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latin typeface="Abadi" panose="020F0502020204030204" pitchFamily="34" charset="0"/>
            </a:endParaRPr>
          </a:p>
        </p:txBody>
      </p:sp>
      <p:sp>
        <p:nvSpPr>
          <p:cNvPr id="4" name="Title 3">
            <a:extLst>
              <a:ext uri="{FF2B5EF4-FFF2-40B4-BE49-F238E27FC236}">
                <a16:creationId xmlns:a16="http://schemas.microsoft.com/office/drawing/2014/main" id="{96A923FD-EE06-48F2-482E-88F38D200251}"/>
              </a:ext>
            </a:extLst>
          </p:cNvPr>
          <p:cNvSpPr>
            <a:spLocks noGrp="1"/>
          </p:cNvSpPr>
          <p:nvPr>
            <p:ph type="title"/>
          </p:nvPr>
        </p:nvSpPr>
        <p:spPr>
          <a:xfrm>
            <a:off x="338518" y="2411186"/>
            <a:ext cx="3456660" cy="2035628"/>
          </a:xfrm>
        </p:spPr>
        <p:txBody>
          <a:bodyPr anchor="t">
            <a:normAutofit/>
          </a:bodyPr>
          <a:lstStyle/>
          <a:p>
            <a:r>
              <a:rPr lang="en-IN" dirty="0">
                <a:solidFill>
                  <a:schemeClr val="bg1">
                    <a:lumMod val="95000"/>
                  </a:schemeClr>
                </a:solidFill>
              </a:rPr>
              <a:t>Speech-to-Text Pipeline (Whisper-Based)</a:t>
            </a:r>
          </a:p>
        </p:txBody>
      </p:sp>
      <p:sp>
        <p:nvSpPr>
          <p:cNvPr id="3" name="Rectangle 1">
            <a:extLst>
              <a:ext uri="{FF2B5EF4-FFF2-40B4-BE49-F238E27FC236}">
                <a16:creationId xmlns:a16="http://schemas.microsoft.com/office/drawing/2014/main" id="{081984C5-FCCD-6314-CFE8-E376F3D0C9C1}"/>
              </a:ext>
            </a:extLst>
          </p:cNvPr>
          <p:cNvSpPr>
            <a:spLocks noGrp="1" noChangeArrowheads="1"/>
          </p:cNvSpPr>
          <p:nvPr>
            <p:ph idx="1"/>
          </p:nvPr>
        </p:nvSpPr>
        <p:spPr bwMode="auto">
          <a:xfrm>
            <a:off x="4339388" y="1755080"/>
            <a:ext cx="7362913" cy="3347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Arial" panose="020B0604020202020204" pitchFamily="34" charset="0"/>
              </a:rPr>
              <a:t>Continuous audio streamed from LiveKit in real time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Arial" panose="020B0604020202020204" pitchFamily="34" charset="0"/>
              </a:rPr>
              <a:t>Audio resampled from </a:t>
            </a:r>
            <a:r>
              <a:rPr kumimoji="0" lang="en-US" altLang="en-US" sz="2400" b="1" i="0" u="none" strike="noStrike" cap="none" normalizeH="0" baseline="0">
                <a:ln>
                  <a:noFill/>
                </a:ln>
                <a:solidFill>
                  <a:schemeClr val="tx1"/>
                </a:solidFill>
                <a:effectLst/>
                <a:latin typeface="Arial" panose="020B0604020202020204" pitchFamily="34" charset="0"/>
              </a:rPr>
              <a:t>48kHz → 16kHz mono PCM</a:t>
            </a:r>
            <a:endParaRPr kumimoji="0" lang="en-US" altLang="en-US" sz="2400" b="0" i="0" u="none" strike="noStrike" cap="none" normalizeH="0" baseline="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Arial" panose="020B0604020202020204" pitchFamily="34" charset="0"/>
              </a:rPr>
              <a:t>RMS-based speech detection segments utterances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Arial" panose="020B0604020202020204" pitchFamily="34" charset="0"/>
              </a:rPr>
              <a:t>Raw PCM audio converted to </a:t>
            </a:r>
            <a:r>
              <a:rPr kumimoji="0" lang="en-US" altLang="en-US" sz="2400" b="1" i="0" u="none" strike="noStrike" cap="none" normalizeH="0" baseline="0">
                <a:ln>
                  <a:noFill/>
                </a:ln>
                <a:solidFill>
                  <a:schemeClr val="tx1"/>
                </a:solidFill>
                <a:effectLst/>
                <a:latin typeface="Arial" panose="020B0604020202020204" pitchFamily="34" charset="0"/>
              </a:rPr>
              <a:t>float32</a:t>
            </a:r>
            <a:r>
              <a:rPr kumimoji="0" lang="en-US" altLang="en-US" sz="2400" b="0" i="0" u="none" strike="noStrike" cap="none" normalizeH="0" baseline="0">
                <a:ln>
                  <a:noFill/>
                </a:ln>
                <a:solidFill>
                  <a:schemeClr val="tx1"/>
                </a:solidFill>
                <a:effectLst/>
                <a:latin typeface="Arial" panose="020B0604020202020204" pitchFamily="34" charset="0"/>
              </a:rPr>
              <a:t> format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Arial" panose="020B0604020202020204" pitchFamily="34" charset="0"/>
              </a:rPr>
              <a:t>Whisper transcribes audio directly from memory</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Arial" panose="020B0604020202020204" pitchFamily="34" charset="0"/>
              </a:rPr>
              <a:t>Text output forwarded immediately to decision layer</a:t>
            </a:r>
          </a:p>
        </p:txBody>
      </p:sp>
    </p:spTree>
    <p:extLst>
      <p:ext uri="{BB962C8B-B14F-4D97-AF65-F5344CB8AC3E}">
        <p14:creationId xmlns:p14="http://schemas.microsoft.com/office/powerpoint/2010/main" val="1594365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AFE67-A2C9-6E72-2265-BC67E37E7282}"/>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859F462A-795E-3700-3C98-DF223140B32D}"/>
              </a:ext>
            </a:extLst>
          </p:cNvPr>
          <p:cNvSpPr/>
          <p:nvPr/>
        </p:nvSpPr>
        <p:spPr>
          <a:xfrm>
            <a:off x="642258" y="2721429"/>
            <a:ext cx="2492829" cy="2035628"/>
          </a:xfrm>
          <a:prstGeom prst="roundRect">
            <a:avLst/>
          </a:prstGeom>
          <a:solidFill>
            <a:srgbClr val="1D1B58"/>
          </a:solidFill>
          <a:ln>
            <a:solidFill>
              <a:srgbClr val="1D1B58"/>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latin typeface="Abadi" panose="020F0502020204030204" pitchFamily="34" charset="0"/>
            </a:endParaRPr>
          </a:p>
        </p:txBody>
      </p:sp>
      <p:sp>
        <p:nvSpPr>
          <p:cNvPr id="4" name="Title 3">
            <a:extLst>
              <a:ext uri="{FF2B5EF4-FFF2-40B4-BE49-F238E27FC236}">
                <a16:creationId xmlns:a16="http://schemas.microsoft.com/office/drawing/2014/main" id="{42416C60-B7F6-4E1B-A8C3-BF5E33013EB4}"/>
              </a:ext>
            </a:extLst>
          </p:cNvPr>
          <p:cNvSpPr>
            <a:spLocks noGrp="1"/>
          </p:cNvSpPr>
          <p:nvPr>
            <p:ph type="title"/>
          </p:nvPr>
        </p:nvSpPr>
        <p:spPr>
          <a:xfrm>
            <a:off x="284090" y="3067292"/>
            <a:ext cx="3852482" cy="2035628"/>
          </a:xfrm>
        </p:spPr>
        <p:txBody>
          <a:bodyPr anchor="t">
            <a:normAutofit/>
          </a:bodyPr>
          <a:lstStyle/>
          <a:p>
            <a:r>
              <a:rPr lang="en-IN" sz="2800" dirty="0">
                <a:solidFill>
                  <a:schemeClr val="bg1">
                    <a:lumMod val="95000"/>
                  </a:schemeClr>
                </a:solidFill>
              </a:rPr>
              <a:t>Text-to-Speech &amp; Interruption Handling</a:t>
            </a:r>
          </a:p>
        </p:txBody>
      </p:sp>
      <p:pic>
        <p:nvPicPr>
          <p:cNvPr id="11" name="Content Placeholder 10">
            <a:extLst>
              <a:ext uri="{FF2B5EF4-FFF2-40B4-BE49-F238E27FC236}">
                <a16:creationId xmlns:a16="http://schemas.microsoft.com/office/drawing/2014/main" id="{ABF88FBD-4468-2ECC-EA55-DA529F1E04D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735627" y="1306287"/>
            <a:ext cx="4639605" cy="3898726"/>
          </a:xfrm>
        </p:spPr>
      </p:pic>
    </p:spTree>
    <p:extLst>
      <p:ext uri="{BB962C8B-B14F-4D97-AF65-F5344CB8AC3E}">
        <p14:creationId xmlns:p14="http://schemas.microsoft.com/office/powerpoint/2010/main" val="15950922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A418B-AD86-800B-A2E2-983A9143C2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AA89F-C837-ACBA-38BB-BEDD3A226B76}"/>
              </a:ext>
            </a:extLst>
          </p:cNvPr>
          <p:cNvSpPr>
            <a:spLocks noGrp="1"/>
          </p:cNvSpPr>
          <p:nvPr>
            <p:ph type="title"/>
          </p:nvPr>
        </p:nvSpPr>
        <p:spPr/>
        <p:txBody>
          <a:bodyPr/>
          <a:lstStyle/>
          <a:p>
            <a:r>
              <a:rPr lang="en-IN" dirty="0"/>
              <a:t>Latency Breakdown</a:t>
            </a:r>
          </a:p>
        </p:txBody>
      </p:sp>
      <p:pic>
        <p:nvPicPr>
          <p:cNvPr id="4" name="Content Placeholder 3">
            <a:extLst>
              <a:ext uri="{FF2B5EF4-FFF2-40B4-BE49-F238E27FC236}">
                <a16:creationId xmlns:a16="http://schemas.microsoft.com/office/drawing/2014/main" id="{D0C71BD6-C08C-964B-EC47-40D83DBB067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1321587" y="1415142"/>
            <a:ext cx="9548825" cy="36137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a:extLst>
              <a:ext uri="{FF2B5EF4-FFF2-40B4-BE49-F238E27FC236}">
                <a16:creationId xmlns:a16="http://schemas.microsoft.com/office/drawing/2014/main" id="{1A77E229-9E78-9BFE-4E16-5A463E7B7195}"/>
              </a:ext>
            </a:extLst>
          </p:cNvPr>
          <p:cNvSpPr txBox="1"/>
          <p:nvPr/>
        </p:nvSpPr>
        <p:spPr>
          <a:xfrm>
            <a:off x="2247899" y="5227626"/>
            <a:ext cx="7696200" cy="523220"/>
          </a:xfrm>
          <a:prstGeom prst="rect">
            <a:avLst/>
          </a:prstGeom>
          <a:noFill/>
        </p:spPr>
        <p:txBody>
          <a:bodyPr wrap="square" rtlCol="0">
            <a:spAutoFit/>
          </a:bodyPr>
          <a:lstStyle/>
          <a:p>
            <a:r>
              <a:rPr lang="en-US" sz="2800" dirty="0">
                <a:solidFill>
                  <a:schemeClr val="tx1">
                    <a:lumMod val="90000"/>
                    <a:lumOff val="10000"/>
                  </a:schemeClr>
                </a:solidFill>
                <a:latin typeface="+mj-lt"/>
              </a:rPr>
              <a:t>“Streaming reduces perceived latency significantly.”</a:t>
            </a:r>
            <a:endParaRPr lang="en-IN" sz="2800" dirty="0">
              <a:solidFill>
                <a:schemeClr val="tx1">
                  <a:lumMod val="90000"/>
                  <a:lumOff val="10000"/>
                </a:schemeClr>
              </a:solidFill>
              <a:latin typeface="+mj-lt"/>
            </a:endParaRPr>
          </a:p>
        </p:txBody>
      </p:sp>
    </p:spTree>
    <p:extLst>
      <p:ext uri="{BB962C8B-B14F-4D97-AF65-F5344CB8AC3E}">
        <p14:creationId xmlns:p14="http://schemas.microsoft.com/office/powerpoint/2010/main" val="28478353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8ACCD-0713-F833-0627-72ABBC20C6E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AAEAC3A-0434-8DE0-E9B4-E7576061566B}"/>
              </a:ext>
            </a:extLst>
          </p:cNvPr>
          <p:cNvSpPr>
            <a:spLocks noGrp="1"/>
          </p:cNvSpPr>
          <p:nvPr>
            <p:ph type="title"/>
          </p:nvPr>
        </p:nvSpPr>
        <p:spPr>
          <a:xfrm>
            <a:off x="384967" y="354261"/>
            <a:ext cx="5711033" cy="725490"/>
          </a:xfrm>
        </p:spPr>
        <p:txBody>
          <a:bodyPr>
            <a:normAutofit/>
          </a:bodyPr>
          <a:lstStyle/>
          <a:p>
            <a:r>
              <a:rPr lang="en-IN" dirty="0"/>
              <a:t>Safety &amp; User Experience</a:t>
            </a:r>
          </a:p>
        </p:txBody>
      </p:sp>
      <p:sp>
        <p:nvSpPr>
          <p:cNvPr id="5" name="Content Placeholder 4">
            <a:extLst>
              <a:ext uri="{FF2B5EF4-FFF2-40B4-BE49-F238E27FC236}">
                <a16:creationId xmlns:a16="http://schemas.microsoft.com/office/drawing/2014/main" id="{0E0F7621-5078-7296-FB02-D340DD57C0F3}"/>
              </a:ext>
            </a:extLst>
          </p:cNvPr>
          <p:cNvSpPr>
            <a:spLocks noGrp="1"/>
          </p:cNvSpPr>
          <p:nvPr>
            <p:ph idx="1"/>
          </p:nvPr>
        </p:nvSpPr>
        <p:spPr>
          <a:xfrm>
            <a:off x="384967" y="1851755"/>
            <a:ext cx="5225143" cy="3499993"/>
          </a:xfrm>
        </p:spPr>
        <p:txBody>
          <a:bodyPr/>
          <a:lstStyle/>
          <a:p>
            <a:pPr marL="0" lvl="0" indent="0" algn="just" eaLnBrk="0" fontAlgn="base" hangingPunct="0">
              <a:lnSpc>
                <a:spcPct val="150000"/>
              </a:lnSpc>
              <a:spcBef>
                <a:spcPct val="0"/>
              </a:spcBef>
              <a:spcAft>
                <a:spcPct val="0"/>
              </a:spcAft>
              <a:buFontTx/>
              <a:buChar char="•"/>
            </a:pPr>
            <a:r>
              <a:rPr lang="en-US" altLang="en-US" dirty="0">
                <a:solidFill>
                  <a:schemeClr val="tx1"/>
                </a:solidFill>
                <a:latin typeface="Arial" panose="020B0604020202020204" pitchFamily="34" charset="0"/>
              </a:rPr>
              <a:t>Graceful fallback on unclear speech</a:t>
            </a:r>
          </a:p>
          <a:p>
            <a:pPr marL="0" lvl="0" indent="0" algn="just" eaLnBrk="0" fontAlgn="base" hangingPunct="0">
              <a:lnSpc>
                <a:spcPct val="150000"/>
              </a:lnSpc>
              <a:spcBef>
                <a:spcPct val="0"/>
              </a:spcBef>
              <a:spcAft>
                <a:spcPct val="0"/>
              </a:spcAft>
              <a:buFontTx/>
              <a:buChar char="•"/>
            </a:pPr>
            <a:r>
              <a:rPr lang="en-US" altLang="en-US" dirty="0">
                <a:solidFill>
                  <a:schemeClr val="tx1"/>
                </a:solidFill>
                <a:latin typeface="Arial" panose="020B0604020202020204" pitchFamily="34" charset="0"/>
              </a:rPr>
              <a:t>No fabricated order status</a:t>
            </a:r>
          </a:p>
          <a:p>
            <a:pPr marL="0" lvl="0" indent="0" algn="just" eaLnBrk="0" fontAlgn="base" hangingPunct="0">
              <a:lnSpc>
                <a:spcPct val="150000"/>
              </a:lnSpc>
              <a:spcBef>
                <a:spcPct val="0"/>
              </a:spcBef>
              <a:spcAft>
                <a:spcPct val="0"/>
              </a:spcAft>
              <a:buFontTx/>
              <a:buChar char="•"/>
            </a:pPr>
            <a:r>
              <a:rPr lang="en-US" altLang="en-US" dirty="0">
                <a:solidFill>
                  <a:schemeClr val="tx1"/>
                </a:solidFill>
                <a:latin typeface="Arial" panose="020B0604020202020204" pitchFamily="34" charset="0"/>
              </a:rPr>
              <a:t>Clarification prompts</a:t>
            </a:r>
          </a:p>
          <a:p>
            <a:pPr marL="0" lvl="0" indent="0" algn="just" eaLnBrk="0" fontAlgn="base" hangingPunct="0">
              <a:lnSpc>
                <a:spcPct val="150000"/>
              </a:lnSpc>
              <a:spcBef>
                <a:spcPct val="0"/>
              </a:spcBef>
              <a:spcAft>
                <a:spcPct val="0"/>
              </a:spcAft>
              <a:buFontTx/>
              <a:buChar char="•"/>
            </a:pPr>
            <a:r>
              <a:rPr lang="en-US" altLang="en-US" dirty="0">
                <a:solidFill>
                  <a:schemeClr val="tx1"/>
                </a:solidFill>
                <a:latin typeface="Arial" panose="020B0604020202020204" pitchFamily="34" charset="0"/>
              </a:rPr>
              <a:t>Stable behavior under noise</a:t>
            </a:r>
          </a:p>
          <a:p>
            <a:pPr>
              <a:lnSpc>
                <a:spcPct val="150000"/>
              </a:lnSpc>
            </a:pPr>
            <a:endParaRPr lang="en-IN" dirty="0"/>
          </a:p>
        </p:txBody>
      </p:sp>
      <p:sp>
        <p:nvSpPr>
          <p:cNvPr id="8" name="TextBox 7">
            <a:extLst>
              <a:ext uri="{FF2B5EF4-FFF2-40B4-BE49-F238E27FC236}">
                <a16:creationId xmlns:a16="http://schemas.microsoft.com/office/drawing/2014/main" id="{CB55067C-FF09-6FC1-4916-C7FE91A40232}"/>
              </a:ext>
            </a:extLst>
          </p:cNvPr>
          <p:cNvSpPr txBox="1"/>
          <p:nvPr/>
        </p:nvSpPr>
        <p:spPr>
          <a:xfrm>
            <a:off x="6234793" y="354261"/>
            <a:ext cx="6101442" cy="1138773"/>
          </a:xfrm>
          <a:prstGeom prst="rect">
            <a:avLst/>
          </a:prstGeom>
          <a:noFill/>
        </p:spPr>
        <p:txBody>
          <a:bodyPr wrap="square">
            <a:spAutoFit/>
          </a:bodyPr>
          <a:lstStyle/>
          <a:p>
            <a:pPr algn="ctr"/>
            <a:r>
              <a:rPr lang="en-US" sz="3400" dirty="0">
                <a:solidFill>
                  <a:schemeClr val="bg1">
                    <a:lumMod val="95000"/>
                  </a:schemeClr>
                </a:solidFill>
                <a:latin typeface="Abadi" panose="020B0604020104020204" pitchFamily="34" charset="0"/>
              </a:rPr>
              <a:t>How This Would Scale in Production</a:t>
            </a:r>
            <a:endParaRPr lang="en-IN" sz="3400" dirty="0">
              <a:solidFill>
                <a:schemeClr val="bg1">
                  <a:lumMod val="95000"/>
                </a:schemeClr>
              </a:solidFill>
              <a:latin typeface="Abadi" panose="020B0604020104020204" pitchFamily="34" charset="0"/>
            </a:endParaRPr>
          </a:p>
        </p:txBody>
      </p:sp>
      <p:sp>
        <p:nvSpPr>
          <p:cNvPr id="11" name="Rectangle 3">
            <a:extLst>
              <a:ext uri="{FF2B5EF4-FFF2-40B4-BE49-F238E27FC236}">
                <a16:creationId xmlns:a16="http://schemas.microsoft.com/office/drawing/2014/main" id="{3A5C8B16-51EB-664E-AF10-25F3A7058860}"/>
              </a:ext>
            </a:extLst>
          </p:cNvPr>
          <p:cNvSpPr>
            <a:spLocks noChangeArrowheads="1"/>
          </p:cNvSpPr>
          <p:nvPr/>
        </p:nvSpPr>
        <p:spPr bwMode="auto">
          <a:xfrm rot="10800000" flipV="1">
            <a:off x="6814456" y="1791184"/>
            <a:ext cx="4992576" cy="3244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err="1">
                <a:ln>
                  <a:noFill/>
                </a:ln>
                <a:solidFill>
                  <a:schemeClr val="bg1">
                    <a:lumMod val="95000"/>
                  </a:schemeClr>
                </a:solidFill>
                <a:effectLst/>
                <a:latin typeface="Arial" panose="020B0604020202020204" pitchFamily="34" charset="0"/>
                <a:cs typeface="Arial" panose="020B0604020202020204" pitchFamily="34" charset="0"/>
              </a:rPr>
              <a:t>Dockerized</a:t>
            </a:r>
            <a:r>
              <a:rPr kumimoji="0" lang="en-US" altLang="en-US" sz="2800" b="0" i="0" u="none" strike="noStrike" cap="none" normalizeH="0" baseline="0" dirty="0">
                <a:ln>
                  <a:noFill/>
                </a:ln>
                <a:solidFill>
                  <a:schemeClr val="bg1">
                    <a:lumMod val="95000"/>
                  </a:schemeClr>
                </a:solidFill>
                <a:effectLst/>
                <a:latin typeface="Arial" panose="020B0604020202020204" pitchFamily="34" charset="0"/>
                <a:cs typeface="Arial" panose="020B0604020202020204" pitchFamily="34" charset="0"/>
              </a:rPr>
              <a:t> agent per room</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bg1">
                    <a:lumMod val="95000"/>
                  </a:schemeClr>
                </a:solidFill>
                <a:effectLst/>
                <a:latin typeface="Arial" panose="020B0604020202020204" pitchFamily="34" charset="0"/>
                <a:cs typeface="Arial" panose="020B0604020202020204" pitchFamily="34" charset="0"/>
              </a:rPr>
              <a:t>Horizontal scaling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bg1">
                    <a:lumMod val="95000"/>
                  </a:schemeClr>
                </a:solidFill>
                <a:effectLst/>
                <a:latin typeface="Arial" panose="020B0604020202020204" pitchFamily="34" charset="0"/>
                <a:cs typeface="Arial" panose="020B0604020202020204" pitchFamily="34" charset="0"/>
              </a:rPr>
              <a:t>Token-based authentication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bg1">
                    <a:lumMod val="95000"/>
                  </a:schemeClr>
                </a:solidFill>
                <a:effectLst/>
                <a:latin typeface="Arial" panose="020B0604020202020204" pitchFamily="34" charset="0"/>
                <a:cs typeface="Arial" panose="020B0604020202020204" pitchFamily="34" charset="0"/>
              </a:rPr>
              <a:t>Observability &amp; logging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bg1">
                    <a:lumMod val="95000"/>
                  </a:schemeClr>
                </a:solidFill>
                <a:effectLst/>
                <a:latin typeface="Arial" panose="020B0604020202020204" pitchFamily="34" charset="0"/>
                <a:cs typeface="Arial" panose="020B0604020202020204" pitchFamily="34" charset="0"/>
              </a:rPr>
              <a:t>Database-backed RAG</a:t>
            </a:r>
          </a:p>
        </p:txBody>
      </p:sp>
    </p:spTree>
    <p:extLst>
      <p:ext uri="{BB962C8B-B14F-4D97-AF65-F5344CB8AC3E}">
        <p14:creationId xmlns:p14="http://schemas.microsoft.com/office/powerpoint/2010/main" val="14906183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p:txBody>
          <a:bodyPr>
            <a:normAutofit/>
          </a:bodyPr>
          <a:lstStyle/>
          <a:p>
            <a:br>
              <a:rPr lang="en-IN" dirty="0"/>
            </a:br>
            <a:r>
              <a:rPr lang="en-IN" dirty="0"/>
              <a:t>Questions ?</a:t>
            </a:r>
          </a:p>
        </p:txBody>
      </p:sp>
    </p:spTree>
    <p:extLst>
      <p:ext uri="{BB962C8B-B14F-4D97-AF65-F5344CB8AC3E}">
        <p14:creationId xmlns:p14="http://schemas.microsoft.com/office/powerpoint/2010/main" val="1173862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Abadi" panose="020F0502020204030204" pitchFamily="34" charset="0"/>
              </a:rPr>
              <a:t>Thank You!</a:t>
            </a:r>
            <a:endParaRPr lang="en-IN" sz="6600" b="1" dirty="0">
              <a:latin typeface="Abad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7033</TotalTime>
  <Words>262</Words>
  <Application>Microsoft Office PowerPoint</Application>
  <PresentationFormat>Widescreen</PresentationFormat>
  <Paragraphs>44</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Abadi</vt:lpstr>
      <vt:lpstr>Arial</vt:lpstr>
      <vt:lpstr>BIA Template</vt:lpstr>
      <vt:lpstr>PowerPoint Presentation</vt:lpstr>
      <vt:lpstr>Why Voicebots in E-Commerce Are Hard</vt:lpstr>
      <vt:lpstr>Challenges in Real-Time Voice AI Systems</vt:lpstr>
      <vt:lpstr>End-to-End Voicebot Architecture</vt:lpstr>
      <vt:lpstr>Real-Time Audio Handling Pipeline</vt:lpstr>
      <vt:lpstr>Speech-to-Text Pipeline (Whisper-Based)</vt:lpstr>
      <vt:lpstr>Text-to-Speech &amp; Interruption Handling</vt:lpstr>
      <vt:lpstr>Latency Breakdown</vt:lpstr>
      <vt:lpstr>Safety &amp; User Experience</vt:lpstr>
      <vt:lpstr> 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Talha Hussain</cp:lastModifiedBy>
  <cp:revision>2255</cp:revision>
  <dcterms:created xsi:type="dcterms:W3CDTF">2020-12-23T13:36:00Z</dcterms:created>
  <dcterms:modified xsi:type="dcterms:W3CDTF">2025-12-19T19:50:31Z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